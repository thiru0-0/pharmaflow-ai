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476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IMAGE SWAP: Replace this native process-flow with a professionally designed architecture/flow graphic (e.g., built in Figma/Canva or by a designer). This is one of the highest-impact visual slides for judges.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IMAGE SWAP: This native architecture diagram is functional but a professionally drawn architecture graphic (draw.io / Excalidraw / Figma) will read stronger to judges evaluating Technical Feasibility.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STRONGLY RECOMMENDED IMAGE SWAP: This slide represents the actual product UI. Replace this native mockup with real screenshots or high-fidelity Figma frames of the dashboard once built — Product Potential is judged heavily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3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6217920" cy="6217920"/>
          </a:xfrm>
          <a:prstGeom prst="ellipse">
            <a:avLst/>
          </a:prstGeom>
          <a:solidFill>
            <a:srgbClr val="F1FAF5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566160"/>
            <a:ext cx="4023360" cy="4023360"/>
          </a:xfrm>
          <a:prstGeom prst="ellipse">
            <a:avLst/>
          </a:prstGeom>
          <a:solidFill>
            <a:srgbClr val="E4F5EC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685800"/>
            <a:ext cx="777240" cy="777240"/>
          </a:xfrm>
          <a:prstGeom prst="ellipse">
            <a:avLst/>
          </a:prstGeom>
          <a:solidFill>
            <a:srgbClr val="D7F2E4"/>
          </a:solidFill>
          <a:ln/>
        </p:spPr>
      </p:sp>
      <p:pic>
        <p:nvPicPr>
          <p:cNvPr id="5" name="Image 0" descr="/home/claude/pharmaflow_ppt/icons/pharma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069" y="779069"/>
            <a:ext cx="590702" cy="5907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331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SUBMISSION  ·  PROBLEM STATEMENT, SOLUTION &amp; PRODUCT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5176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PharmaFlow AI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8862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2E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Inter-Pharmacy Inventory Optimization Network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44348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pharmacy surplus into timely availability.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685800" y="5989320"/>
            <a:ext cx="4937760" cy="0"/>
          </a:xfrm>
          <a:prstGeom prst="line">
            <a:avLst/>
          </a:prstGeom>
          <a:noFill/>
          <a:ln w="12700">
            <a:solidFill>
              <a:srgbClr val="CFE6E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6108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NANT  ·  Track: HealthTech / AI for Social Good  · 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medicine exists — it's just in the wrong pharmacy.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123444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pharmacy inventory management often creates an imbalance where some pharmacies hold excess medicines approaching expiry while nearby pharmacies face stockouts — with no shared visibility to fix it.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66928" y="20574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313432"/>
            <a:ext cx="566928" cy="566928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9" name="Image 0" descr="/home/claude/pharmaflow_ppt/icons/expiry-clock-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991" y="2381463"/>
            <a:ext cx="430865" cy="43086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527048" y="23134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A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1089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</a:t>
            </a:r>
            <a:endParaRPr lang="en-US" sz="9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35584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units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73075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DEMAND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977640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month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822960" y="435254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X</a:t>
            </a:r>
            <a:endParaRPr lang="en-US" sz="9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599432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3 months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22960" y="5056632"/>
            <a:ext cx="3008376" cy="365760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22960" y="50566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RISK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4379976" y="20574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636008" y="2313432"/>
            <a:ext cx="566928" cy="566928"/>
          </a:xfrm>
          <a:prstGeom prst="ellipse">
            <a:avLst/>
          </a:prstGeom>
          <a:solidFill>
            <a:srgbClr val="F5A623"/>
          </a:solidFill>
          <a:ln/>
        </p:spPr>
      </p:sp>
      <p:pic>
        <p:nvPicPr>
          <p:cNvPr id="21" name="Image 1" descr="/home/claude/pharmaflow_ppt/icons/stockout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039" y="2381463"/>
            <a:ext cx="430865" cy="430865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5340096" y="23134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B</a:t>
            </a:r>
            <a:endParaRPr lang="en-US" sz="1700" dirty="0"/>
          </a:p>
        </p:txBody>
      </p:sp>
      <p:sp>
        <p:nvSpPr>
          <p:cNvPr id="23" name="Text 19"/>
          <p:cNvSpPr txBox="1"/>
          <p:nvPr/>
        </p:nvSpPr>
        <p:spPr>
          <a:xfrm>
            <a:off x="4636008" y="31089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</a:t>
            </a:r>
            <a:endParaRPr lang="en-US" sz="950" dirty="0"/>
          </a:p>
        </p:txBody>
      </p:sp>
      <p:sp>
        <p:nvSpPr>
          <p:cNvPr id="24" name="Text 20"/>
          <p:cNvSpPr txBox="1"/>
          <p:nvPr/>
        </p:nvSpPr>
        <p:spPr>
          <a:xfrm>
            <a:off x="4636008" y="335584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units</a:t>
            </a:r>
            <a:endParaRPr lang="en-US" sz="1500" dirty="0"/>
          </a:p>
        </p:txBody>
      </p:sp>
      <p:sp>
        <p:nvSpPr>
          <p:cNvPr id="25" name="Text 21"/>
          <p:cNvSpPr txBox="1"/>
          <p:nvPr/>
        </p:nvSpPr>
        <p:spPr>
          <a:xfrm>
            <a:off x="4636008" y="373075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DEMAND</a:t>
            </a:r>
            <a:endParaRPr lang="en-US" sz="950" dirty="0"/>
          </a:p>
        </p:txBody>
      </p:sp>
      <p:sp>
        <p:nvSpPr>
          <p:cNvPr id="26" name="Text 22"/>
          <p:cNvSpPr txBox="1"/>
          <p:nvPr/>
        </p:nvSpPr>
        <p:spPr>
          <a:xfrm>
            <a:off x="4636008" y="3977640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/ month</a:t>
            </a:r>
            <a:endParaRPr lang="en-US" sz="1500" dirty="0"/>
          </a:p>
        </p:txBody>
      </p:sp>
      <p:sp>
        <p:nvSpPr>
          <p:cNvPr id="27" name="Text 23"/>
          <p:cNvSpPr txBox="1"/>
          <p:nvPr/>
        </p:nvSpPr>
        <p:spPr>
          <a:xfrm>
            <a:off x="4636008" y="435254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X</a:t>
            </a:r>
            <a:endParaRPr lang="en-US" sz="950" dirty="0"/>
          </a:p>
        </p:txBody>
      </p:sp>
      <p:sp>
        <p:nvSpPr>
          <p:cNvPr id="28" name="Text 24"/>
          <p:cNvSpPr txBox="1"/>
          <p:nvPr/>
        </p:nvSpPr>
        <p:spPr>
          <a:xfrm>
            <a:off x="4636008" y="4599432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 in 8 months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4636008" y="5056632"/>
            <a:ext cx="3008376" cy="365760"/>
          </a:xfrm>
          <a:prstGeom prst="roundRect">
            <a:avLst>
              <a:gd name="adj" fmla="val 15000"/>
            </a:avLst>
          </a:prstGeom>
          <a:solidFill>
            <a:srgbClr val="F5A623"/>
          </a:solidFill>
          <a:ln/>
        </p:spPr>
      </p:sp>
      <p:sp>
        <p:nvSpPr>
          <p:cNvPr id="30" name="Text 26"/>
          <p:cNvSpPr txBox="1"/>
          <p:nvPr/>
        </p:nvSpPr>
        <p:spPr>
          <a:xfrm>
            <a:off x="4636008" y="50566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STOCKOUT IN DAYS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8193024" y="2057400"/>
            <a:ext cx="3520440" cy="3566160"/>
          </a:xfrm>
          <a:prstGeom prst="roundRect">
            <a:avLst>
              <a:gd name="adj" fmla="val 2597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449056" y="2313432"/>
            <a:ext cx="566928" cy="566928"/>
          </a:xfrm>
          <a:prstGeom prst="ellipse">
            <a:avLst/>
          </a:prstGeom>
          <a:solidFill>
            <a:srgbClr val="E74C3C"/>
          </a:solidFill>
          <a:ln/>
        </p:spPr>
      </p:sp>
      <p:pic>
        <p:nvPicPr>
          <p:cNvPr id="33" name="Image 2" descr="/home/claude/pharmaflow_ppt/icons/stockout-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087" y="2381463"/>
            <a:ext cx="430865" cy="430865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153144" y="2313432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C</a:t>
            </a:r>
            <a:endParaRPr lang="en-US" sz="1700" dirty="0"/>
          </a:p>
        </p:txBody>
      </p:sp>
      <p:sp>
        <p:nvSpPr>
          <p:cNvPr id="35" name="Text 30"/>
          <p:cNvSpPr txBox="1"/>
          <p:nvPr/>
        </p:nvSpPr>
        <p:spPr>
          <a:xfrm>
            <a:off x="8449056" y="3108960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ON HAND</a:t>
            </a:r>
            <a:endParaRPr lang="en-US" sz="950" dirty="0"/>
          </a:p>
        </p:txBody>
      </p:sp>
      <p:sp>
        <p:nvSpPr>
          <p:cNvPr id="36" name="Text 31"/>
          <p:cNvSpPr txBox="1"/>
          <p:nvPr/>
        </p:nvSpPr>
        <p:spPr>
          <a:xfrm>
            <a:off x="8449056" y="3355848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units</a:t>
            </a:r>
            <a:endParaRPr lang="en-US" sz="1500" dirty="0"/>
          </a:p>
        </p:txBody>
      </p:sp>
      <p:sp>
        <p:nvSpPr>
          <p:cNvPr id="37" name="Text 32"/>
          <p:cNvSpPr txBox="1"/>
          <p:nvPr/>
        </p:nvSpPr>
        <p:spPr>
          <a:xfrm>
            <a:off x="8449056" y="3730752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DEMAND</a:t>
            </a:r>
            <a:endParaRPr lang="en-US" sz="950" dirty="0"/>
          </a:p>
        </p:txBody>
      </p:sp>
      <p:sp>
        <p:nvSpPr>
          <p:cNvPr id="38" name="Text 33"/>
          <p:cNvSpPr txBox="1"/>
          <p:nvPr/>
        </p:nvSpPr>
        <p:spPr>
          <a:xfrm>
            <a:off x="8449056" y="3977640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month</a:t>
            </a:r>
            <a:endParaRPr lang="en-US" sz="1500" dirty="0"/>
          </a:p>
        </p:txBody>
      </p:sp>
      <p:sp>
        <p:nvSpPr>
          <p:cNvPr id="39" name="Text 34"/>
          <p:cNvSpPr txBox="1"/>
          <p:nvPr/>
        </p:nvSpPr>
        <p:spPr>
          <a:xfrm>
            <a:off x="8449056" y="4352544"/>
            <a:ext cx="3008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X</a:t>
            </a:r>
            <a:endParaRPr lang="en-US" sz="950" dirty="0"/>
          </a:p>
        </p:txBody>
      </p:sp>
      <p:sp>
        <p:nvSpPr>
          <p:cNvPr id="40" name="Text 35"/>
          <p:cNvSpPr txBox="1"/>
          <p:nvPr/>
        </p:nvSpPr>
        <p:spPr>
          <a:xfrm>
            <a:off x="8449056" y="4599432"/>
            <a:ext cx="30083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stock on hand</a:t>
            </a:r>
            <a:endParaRPr lang="en-US" sz="1500" dirty="0"/>
          </a:p>
        </p:txBody>
      </p:sp>
      <p:sp>
        <p:nvSpPr>
          <p:cNvPr id="41" name="Shape 36"/>
          <p:cNvSpPr/>
          <p:nvPr/>
        </p:nvSpPr>
        <p:spPr>
          <a:xfrm>
            <a:off x="8449056" y="5056632"/>
            <a:ext cx="3008376" cy="365760"/>
          </a:xfrm>
          <a:prstGeom prst="roundRect">
            <a:avLst>
              <a:gd name="adj" fmla="val 15000"/>
            </a:avLst>
          </a:prstGeom>
          <a:solidFill>
            <a:srgbClr val="E74C3C"/>
          </a:solidFill>
          <a:ln/>
        </p:spPr>
      </p:sp>
      <p:sp>
        <p:nvSpPr>
          <p:cNvPr id="42" name="Text 37"/>
          <p:cNvSpPr txBox="1"/>
          <p:nvPr/>
        </p:nvSpPr>
        <p:spPr>
          <a:xfrm>
            <a:off x="8449056" y="5056632"/>
            <a:ext cx="3008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STOCK</a:t>
            </a:r>
            <a:endParaRPr lang="en-US" sz="1150" dirty="0"/>
          </a:p>
        </p:txBody>
      </p:sp>
      <p:sp>
        <p:nvSpPr>
          <p:cNvPr id="43" name="Text 38"/>
          <p:cNvSpPr txBox="1"/>
          <p:nvPr/>
        </p:nvSpPr>
        <p:spPr>
          <a:xfrm>
            <a:off x="566928" y="57790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Indian pharmacy-inventory studies document stockouts, overstocking, expiry loss and poor real-time visibility as recurring, evidenced problems (PubMed Central).</a:t>
            </a:r>
            <a:endParaRPr lang="en-US" sz="1000" dirty="0"/>
          </a:p>
        </p:txBody>
      </p:sp>
      <p:sp>
        <p:nvSpPr>
          <p:cNvPr id="44" name="Text 39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45" name="Text 40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interconnected root causes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943100"/>
            <a:ext cx="822960" cy="822960"/>
          </a:xfrm>
          <a:prstGeom prst="ellipse">
            <a:avLst/>
          </a:prstGeom>
          <a:solidFill>
            <a:srgbClr val="D7F2E4"/>
          </a:solidFill>
          <a:ln/>
        </p:spPr>
      </p:sp>
      <p:pic>
        <p:nvPicPr>
          <p:cNvPr id="8" name="Image 0" descr="/home/claude/pharmaflow_ppt/icons/box-overst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2041855"/>
            <a:ext cx="625450" cy="62545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892808" y="16184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Overstocking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1892808" y="198424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Purchases follow historical guesses, not real demand — capital gets locked into slow-moving inventory.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81928" y="1417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56248" y="1943100"/>
            <a:ext cx="822960" cy="822960"/>
          </a:xfrm>
          <a:prstGeom prst="ellipse">
            <a:avLst/>
          </a:prstGeom>
          <a:solidFill>
            <a:srgbClr val="D7F2E4"/>
          </a:solidFill>
          <a:ln/>
        </p:spPr>
      </p:sp>
      <p:pic>
        <p:nvPicPr>
          <p:cNvPr id="13" name="Image 1" descr="/home/claude/pharmaflow_ppt/icons/expiry-mo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5003" y="2041855"/>
            <a:ext cx="625450" cy="6254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07808" y="161848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Expiry losses</a:t>
            </a:r>
            <a:endParaRPr lang="en-US" sz="1650" dirty="0"/>
          </a:p>
        </p:txBody>
      </p:sp>
      <p:sp>
        <p:nvSpPr>
          <p:cNvPr id="15" name="Text 11"/>
          <p:cNvSpPr txBox="1"/>
          <p:nvPr/>
        </p:nvSpPr>
        <p:spPr>
          <a:xfrm>
            <a:off x="7607808" y="198424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shelf lives mean unsold stock becomes a direct financial write-off and supply-chain waste.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66928" y="35661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" y="4091940"/>
            <a:ext cx="822960" cy="822960"/>
          </a:xfrm>
          <a:prstGeom prst="ellipse">
            <a:avLst/>
          </a:prstGeom>
          <a:solidFill>
            <a:srgbClr val="D7F2E4"/>
          </a:solidFill>
          <a:ln/>
        </p:spPr>
      </p:sp>
      <p:pic>
        <p:nvPicPr>
          <p:cNvPr id="18" name="Image 2" descr="/home/claude/pharmaflow_ppt/icons/stockout-modu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" y="4190695"/>
            <a:ext cx="625450" cy="62545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892808" y="37673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Stockouts</a:t>
            </a:r>
            <a:endParaRPr lang="en-US" sz="1650" dirty="0"/>
          </a:p>
        </p:txBody>
      </p:sp>
      <p:sp>
        <p:nvSpPr>
          <p:cNvPr id="20" name="Text 15"/>
          <p:cNvSpPr txBox="1"/>
          <p:nvPr/>
        </p:nvSpPr>
        <p:spPr>
          <a:xfrm>
            <a:off x="1892808" y="413308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medicine may be unavailable a few streets away, forcing emergency procurement and lost sales.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281928" y="356616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556248" y="4091940"/>
            <a:ext cx="822960" cy="822960"/>
          </a:xfrm>
          <a:prstGeom prst="ellipse">
            <a:avLst/>
          </a:prstGeom>
          <a:solidFill>
            <a:srgbClr val="D7F2E4"/>
          </a:solidFill>
          <a:ln/>
        </p:spPr>
      </p:sp>
      <p:pic>
        <p:nvPicPr>
          <p:cNvPr id="23" name="Image 3" descr="/home/claude/pharmaflow_ppt/icons/visibilit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5003" y="4190695"/>
            <a:ext cx="625450" cy="62545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07808" y="3767328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Fragmented visibility</a:t>
            </a:r>
            <a:endParaRPr lang="en-US" sz="1650" dirty="0"/>
          </a:p>
        </p:txBody>
      </p:sp>
      <p:sp>
        <p:nvSpPr>
          <p:cNvPr id="25" name="Text 19"/>
          <p:cNvSpPr txBox="1"/>
          <p:nvPr/>
        </p:nvSpPr>
        <p:spPr>
          <a:xfrm>
            <a:off x="7607808" y="4133088"/>
            <a:ext cx="3794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pharmacy knows “what do I have?” — but no one knows who has it, who needs it, or if moving it is worthwhile.</a:t>
            </a:r>
            <a:endParaRPr lang="en-US" sz="1200" dirty="0"/>
          </a:p>
        </p:txBody>
      </p:sp>
      <p:sp>
        <p:nvSpPr>
          <p:cNvPr id="26" name="Text 20"/>
          <p:cNvSpPr txBox="1"/>
          <p:nvPr/>
        </p:nvSpPr>
        <p:spPr>
          <a:xfrm>
            <a:off x="566928" y="555040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on Indian pharmacy stores and rural health systems specifically reports overstocking, shortages, expiry and uncertain demand as recurring inventory-management failures.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marketplace — an inventory intelligence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D7F2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132588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5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 continuously predicts demand, detects expiry &amp; stockout risk, finds the best pharmacy to receive surplus stock, and decides whether transferring it is </a:t>
            </a:r>
            <a:r>
              <a:rPr lang="en-US" sz="155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economically worthwhile.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66928" y="2468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04188" y="2743200"/>
            <a:ext cx="731520" cy="731520"/>
          </a:xfrm>
          <a:prstGeom prst="ellipse">
            <a:avLst/>
          </a:prstGeom>
          <a:solidFill>
            <a:srgbClr val="D7F2E4"/>
          </a:solidFill>
          <a:ln/>
        </p:spPr>
      </p:sp>
      <p:pic>
        <p:nvPicPr>
          <p:cNvPr id="10" name="Image 0" descr="/home/claude/pharmaflow_ppt/icons/inven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970" y="2830982"/>
            <a:ext cx="555955" cy="55595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6928" y="3611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95020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Stock, batch, quantity, price, expiry, storage needs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392424" y="2468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29684" y="2743200"/>
            <a:ext cx="731520" cy="731520"/>
          </a:xfrm>
          <a:prstGeom prst="ellipse">
            <a:avLst/>
          </a:prstGeom>
          <a:solidFill>
            <a:srgbClr val="D7F2E4"/>
          </a:solidFill>
          <a:ln/>
        </p:spPr>
      </p:sp>
      <p:pic>
        <p:nvPicPr>
          <p:cNvPr id="15" name="Image 1" descr="/home/claude/pharmaflow_ppt/icons/dem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466" y="2830982"/>
            <a:ext cx="555955" cy="55595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392424" y="3611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557016" y="395020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sales, seasonality, local patterns, forecasts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217920" y="2468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155180" y="2743200"/>
            <a:ext cx="731520" cy="731520"/>
          </a:xfrm>
          <a:prstGeom prst="ellipse">
            <a:avLst/>
          </a:prstGeom>
          <a:solidFill>
            <a:srgbClr val="D7F2E4"/>
          </a:solidFill>
          <a:ln/>
        </p:spPr>
      </p:sp>
      <p:pic>
        <p:nvPicPr>
          <p:cNvPr id="20" name="Image 2" descr="/home/claude/pharmaflow_ppt/icons/ris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962" y="2830982"/>
            <a:ext cx="555955" cy="555955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217920" y="3611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382512" y="395020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risk, stockout risk, overstock, uncertainty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9043416" y="246888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980676" y="2743200"/>
            <a:ext cx="731520" cy="731520"/>
          </a:xfrm>
          <a:prstGeom prst="ellipse">
            <a:avLst/>
          </a:prstGeom>
          <a:solidFill>
            <a:srgbClr val="D7F2E4"/>
          </a:solidFill>
          <a:ln/>
        </p:spPr>
      </p:sp>
      <p:pic>
        <p:nvPicPr>
          <p:cNvPr id="25" name="Image 3" descr="/home/claude/pharmaflow_ppt/icons/logis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8458" y="2830982"/>
            <a:ext cx="555955" cy="555955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043416" y="3611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9208008" y="3950208"/>
            <a:ext cx="22768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Distance, transport cost, delivery time, storage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66928" y="48920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6F3C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566928" y="489204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  Optimal Redistribution Recommendations</a:t>
            </a:r>
            <a:endParaRPr lang="en-US" sz="20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isolated stock to a self-balancing network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APPROACH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2331720"/>
            <a:ext cx="1627632" cy="1188720"/>
          </a:xfrm>
          <a:prstGeom prst="roundRect">
            <a:avLst>
              <a:gd name="adj" fmla="val 7692"/>
            </a:avLst>
          </a:prstGeom>
          <a:solidFill>
            <a:srgbClr val="D7F2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76656" y="24048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6517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450" dirty="0"/>
          </a:p>
        </p:txBody>
      </p:sp>
      <p:pic>
        <p:nvPicPr>
          <p:cNvPr id="9" name="Image 0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1304" y="2798064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454250" y="2331720"/>
            <a:ext cx="1627632" cy="1188720"/>
          </a:xfrm>
          <a:prstGeom prst="roundRect">
            <a:avLst>
              <a:gd name="adj" fmla="val 7692"/>
            </a:avLst>
          </a:prstGeom>
          <a:solidFill>
            <a:srgbClr val="D7F2E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563978" y="24048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527402" y="26517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 Risk</a:t>
            </a:r>
            <a:endParaRPr lang="en-US" sz="1450" dirty="0"/>
          </a:p>
        </p:txBody>
      </p:sp>
      <p:pic>
        <p:nvPicPr>
          <p:cNvPr id="13" name="Image 1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8626" y="2798064"/>
            <a:ext cx="256032" cy="25603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341571" y="2331720"/>
            <a:ext cx="1627632" cy="1188720"/>
          </a:xfrm>
          <a:prstGeom prst="roundRect">
            <a:avLst>
              <a:gd name="adj" fmla="val 7692"/>
            </a:avLst>
          </a:prstGeom>
          <a:solidFill>
            <a:srgbClr val="D7F2E4"/>
          </a:solidFill>
          <a:ln/>
        </p:spPr>
      </p:sp>
      <p:sp>
        <p:nvSpPr>
          <p:cNvPr id="15" name="Text 11"/>
          <p:cNvSpPr txBox="1"/>
          <p:nvPr/>
        </p:nvSpPr>
        <p:spPr>
          <a:xfrm>
            <a:off x="4451299" y="24048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414723" y="26517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Demand</a:t>
            </a:r>
            <a:endParaRPr lang="en-US" sz="1450" dirty="0"/>
          </a:p>
        </p:txBody>
      </p:sp>
      <p:pic>
        <p:nvPicPr>
          <p:cNvPr id="17" name="Image 2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5947" y="2798064"/>
            <a:ext cx="256032" cy="25603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6228893" y="2331720"/>
            <a:ext cx="1627632" cy="1188720"/>
          </a:xfrm>
          <a:prstGeom prst="roundRect">
            <a:avLst>
              <a:gd name="adj" fmla="val 7692"/>
            </a:avLst>
          </a:prstGeom>
          <a:solidFill>
            <a:srgbClr val="FF6F3C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338621" y="24048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6302045" y="26517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 Transfer</a:t>
            </a:r>
            <a:endParaRPr lang="en-US" sz="1450" dirty="0"/>
          </a:p>
        </p:txBody>
      </p:sp>
      <p:pic>
        <p:nvPicPr>
          <p:cNvPr id="21" name="Image 3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3269" y="2798064"/>
            <a:ext cx="256032" cy="25603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116214" y="2331720"/>
            <a:ext cx="1627632" cy="1188720"/>
          </a:xfrm>
          <a:prstGeom prst="roundRect">
            <a:avLst>
              <a:gd name="adj" fmla="val 7692"/>
            </a:avLst>
          </a:prstGeom>
          <a:solidFill>
            <a:srgbClr val="D7F2E4"/>
          </a:solidFill>
          <a:ln/>
        </p:spPr>
      </p:sp>
      <p:sp>
        <p:nvSpPr>
          <p:cNvPr id="23" name="Text 17"/>
          <p:cNvSpPr txBox="1"/>
          <p:nvPr/>
        </p:nvSpPr>
        <p:spPr>
          <a:xfrm>
            <a:off x="8225942" y="24048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18"/>
          <p:cNvSpPr txBox="1"/>
          <p:nvPr/>
        </p:nvSpPr>
        <p:spPr>
          <a:xfrm>
            <a:off x="8189366" y="26517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450" dirty="0"/>
          </a:p>
        </p:txBody>
      </p:sp>
      <p:pic>
        <p:nvPicPr>
          <p:cNvPr id="25" name="Image 4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90591" y="2798064"/>
            <a:ext cx="256032" cy="256032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10003536" y="2331720"/>
            <a:ext cx="1627632" cy="1188720"/>
          </a:xfrm>
          <a:prstGeom prst="roundRect">
            <a:avLst>
              <a:gd name="adj" fmla="val 7692"/>
            </a:avLst>
          </a:prstGeom>
          <a:solidFill>
            <a:srgbClr val="D7F2E4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10113264" y="240487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E8C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8" name="Text 21"/>
          <p:cNvSpPr txBox="1"/>
          <p:nvPr/>
        </p:nvSpPr>
        <p:spPr>
          <a:xfrm>
            <a:off x="10076688" y="2651760"/>
            <a:ext cx="148132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Network</a:t>
            </a:r>
            <a:endParaRPr lang="en-US" sz="1450" dirty="0"/>
          </a:p>
        </p:txBody>
      </p:sp>
      <p:sp>
        <p:nvSpPr>
          <p:cNvPr id="29" name="Text 22"/>
          <p:cNvSpPr txBox="1"/>
          <p:nvPr/>
        </p:nvSpPr>
        <p:spPr>
          <a:xfrm>
            <a:off x="566928" y="3977640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PHARMACY</a:t>
            </a:r>
            <a:endParaRPr lang="en-US" sz="1050" dirty="0"/>
          </a:p>
        </p:txBody>
      </p:sp>
      <p:sp>
        <p:nvSpPr>
          <p:cNvPr id="30" name="Text 23"/>
          <p:cNvSpPr txBox="1"/>
          <p:nvPr/>
        </p:nvSpPr>
        <p:spPr>
          <a:xfrm>
            <a:off x="566928" y="4251960"/>
            <a:ext cx="350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 →  Alert  →  Reorder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346448" y="3977640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NETWORK</a:t>
            </a:r>
            <a:endParaRPr lang="en-US" sz="1050" dirty="0"/>
          </a:p>
        </p:txBody>
      </p:sp>
      <p:sp>
        <p:nvSpPr>
          <p:cNvPr id="32" name="Text 25"/>
          <p:cNvSpPr txBox="1"/>
          <p:nvPr/>
        </p:nvSpPr>
        <p:spPr>
          <a:xfrm>
            <a:off x="4346448" y="4251960"/>
            <a:ext cx="350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 →  Compare  →  Optimize  →  Redistribute</a:t>
            </a:r>
            <a:endParaRPr lang="en-US" sz="1250" dirty="0"/>
          </a:p>
        </p:txBody>
      </p:sp>
      <p:sp>
        <p:nvSpPr>
          <p:cNvPr id="33" name="Text 26"/>
          <p:cNvSpPr txBox="1"/>
          <p:nvPr/>
        </p:nvSpPr>
        <p:spPr>
          <a:xfrm>
            <a:off x="8125968" y="3977640"/>
            <a:ext cx="350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34" name="Text 27"/>
          <p:cNvSpPr txBox="1"/>
          <p:nvPr/>
        </p:nvSpPr>
        <p:spPr>
          <a:xfrm>
            <a:off x="8125968" y="4251960"/>
            <a:ext cx="350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reaches demand before it expires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566928" y="5440680"/>
            <a:ext cx="11064240" cy="457200"/>
          </a:xfrm>
          <a:prstGeom prst="roundRect">
            <a:avLst>
              <a:gd name="adj" fmla="val 12000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731520" y="5440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Design note: replace this flow with a polished custom-illustrated process graphic in the final deck — it is the most “showable” slide in the pitch.</a:t>
            </a:r>
            <a:endParaRPr lang="en-US" sz="1050" dirty="0"/>
          </a:p>
        </p:txBody>
      </p:sp>
      <p:sp>
        <p:nvSpPr>
          <p:cNvPr id="38" name="Text 30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39" name="Text 3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ENGINE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predictive modules, each with one job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CREATIVITY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655064"/>
            <a:ext cx="640080" cy="640080"/>
          </a:xfrm>
          <a:prstGeom prst="ellipse">
            <a:avLst/>
          </a:prstGeom>
          <a:solidFill>
            <a:srgbClr val="D7F2E4"/>
          </a:solidFill>
          <a:ln w="12700">
            <a:solidFill>
              <a:srgbClr val="0B4F4A"/>
            </a:solidFill>
            <a:prstDash val="solid"/>
          </a:ln>
        </p:spPr>
      </p:sp>
      <p:pic>
        <p:nvPicPr>
          <p:cNvPr id="8" name="Image 0" descr="/home/claude/pharmaflow_ppt/icons/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82" y="1731874"/>
            <a:ext cx="486461" cy="4864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18488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Demand Forecasting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18488" y="19476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 30-day demand per medicine, per pharmacy.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04672" y="2834640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moving average / XGBoost — LSTM only if data supports it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81928" y="141732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9672" y="1655064"/>
            <a:ext cx="640080" cy="640080"/>
          </a:xfrm>
          <a:prstGeom prst="ellipse">
            <a:avLst/>
          </a:prstGeom>
          <a:solidFill>
            <a:srgbClr val="D7F2E4"/>
          </a:solidFill>
          <a:ln w="12700">
            <a:solidFill>
              <a:srgbClr val="0B4F4A"/>
            </a:solidFill>
            <a:prstDash val="solid"/>
          </a:ln>
        </p:spPr>
      </p:sp>
      <p:pic>
        <p:nvPicPr>
          <p:cNvPr id="14" name="Image 1" descr="/home/claude/pharmaflow_ppt/icons/expiry-mod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6482" y="1731874"/>
            <a:ext cx="486461" cy="486461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333488" y="158191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Expiry Risk Prediction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7333488" y="194767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remaining shelf life against forecasted consumption.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6519672" y="2834640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100 − expected use 45 = 55 units at risk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66928" y="3547872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04672" y="3785616"/>
            <a:ext cx="640080" cy="640080"/>
          </a:xfrm>
          <a:prstGeom prst="ellipse">
            <a:avLst/>
          </a:prstGeom>
          <a:solidFill>
            <a:srgbClr val="D7F2E4"/>
          </a:solidFill>
          <a:ln w="12700">
            <a:solidFill>
              <a:srgbClr val="0B4F4A"/>
            </a:solidFill>
            <a:prstDash val="solid"/>
          </a:ln>
        </p:spPr>
      </p:sp>
      <p:pic>
        <p:nvPicPr>
          <p:cNvPr id="20" name="Image 2" descr="/home/claude/pharmaflow_ppt/icons/stockout-modu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2" y="3862426"/>
            <a:ext cx="486461" cy="486461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18488" y="37124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Stockout Prediction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618488" y="40782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inventory = current stock ÷ predicted daily demand.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804672" y="496519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units ÷ 4/day = 2.5 days vs. 5-day lead time → alert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6281928" y="3547872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519672" y="3785616"/>
            <a:ext cx="640080" cy="640080"/>
          </a:xfrm>
          <a:prstGeom prst="ellipse">
            <a:avLst/>
          </a:prstGeom>
          <a:solidFill>
            <a:srgbClr val="D7F2E4"/>
          </a:solidFill>
          <a:ln w="12700">
            <a:solidFill>
              <a:srgbClr val="0B4F4A"/>
            </a:solidFill>
            <a:prstDash val="solid"/>
          </a:ln>
        </p:spPr>
      </p:sp>
      <p:pic>
        <p:nvPicPr>
          <p:cNvPr id="26" name="Image 3" descr="/home/claude/pharmaflow_ppt/icons/match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6482" y="3862426"/>
            <a:ext cx="486461" cy="486461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333488" y="371246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· Pharmacy Matching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7333488" y="4078224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Ranks candidate receivers by surplus × urgency × distance × cost.</a:t>
            </a:r>
            <a:endParaRPr lang="en-US" sz="1150" dirty="0"/>
          </a:p>
        </p:txBody>
      </p:sp>
      <p:sp>
        <p:nvSpPr>
          <p:cNvPr id="29" name="Text 23"/>
          <p:cNvSpPr txBox="1"/>
          <p:nvPr/>
        </p:nvSpPr>
        <p:spPr>
          <a:xfrm>
            <a:off x="6519672" y="4965192"/>
            <a:ext cx="4919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“nearest” — the best overall match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31" name="Text 25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 ENGINE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don't just redistribute — we maximize economic value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5166360" cy="1417320"/>
          </a:xfrm>
          <a:prstGeom prst="roundRect">
            <a:avLst>
              <a:gd name="adj" fmla="val 5161"/>
            </a:avLst>
          </a:prstGeom>
          <a:solidFill>
            <a:srgbClr val="D7F2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417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Score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17373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Loss Avoided  +  Stockout Risk Reduction</a:t>
            </a:r>
            <a:endParaRPr lang="en-US" sz="13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 Transport Cost  −  Handling Cost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43600" y="1280160"/>
            <a:ext cx="5669280" cy="621792"/>
          </a:xfrm>
          <a:prstGeom prst="roundRect">
            <a:avLst>
              <a:gd name="adj" fmla="val 11765"/>
            </a:avLst>
          </a:prstGeom>
          <a:solidFill>
            <a:srgbClr val="2ECC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0" y="1280160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&gt; threshold   →   RECOMMENDED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943600" y="2029968"/>
            <a:ext cx="5669280" cy="621792"/>
          </a:xfrm>
          <a:prstGeom prst="roundRect">
            <a:avLst>
              <a:gd name="adj" fmla="val 11765"/>
            </a:avLst>
          </a:prstGeom>
          <a:solidFill>
            <a:srgbClr val="E74C3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943600" y="2029968"/>
            <a:ext cx="5669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threshold   →   NOT VIABLE — keep stock in place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66928" y="306324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 — same-day candidate transfers ranked by net benefit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429000"/>
          <a:ext cx="11064240" cy="16916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Destination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Expiry Loss Avoided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0B4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₹1,500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250" b="1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250" b="1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Rejected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₹900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2ECC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  </a:t>
                      </a:r>
                      <a:r>
                        <a:rPr lang="en-US" sz="1250" b="1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66928" y="53492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selects A → B: the highest net benefit after transport and handling cost.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17" name="Text 14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pieces fit together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803904" y="132588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EEF9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803904" y="13258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Web / Mobile App</a:t>
            </a:r>
            <a:endParaRPr lang="en-US" sz="1300" dirty="0"/>
          </a:p>
        </p:txBody>
      </p:sp>
      <p:pic>
        <p:nvPicPr>
          <p:cNvPr id="8" name="Image 0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89320" y="1920240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803904" y="2194560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D7F2E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3803904" y="21945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Layer  —  FastAPI</a:t>
            </a:r>
            <a:endParaRPr lang="en-US" sz="1300" dirty="0"/>
          </a:p>
        </p:txBody>
      </p:sp>
      <p:pic>
        <p:nvPicPr>
          <p:cNvPr id="11" name="Image 1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89320" y="2788920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53796" y="30632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13" name="Image 2" descr="/home/claude/pharmaflow_ppt/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5396" y="322783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5236" y="38130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4448556" y="30632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16" name="Image 3" descr="/home/claude/pharmaflow_ppt/icons/m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0156" y="3227832"/>
            <a:ext cx="548640" cy="54864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4539996" y="38130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(Forecast · Risk)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243316" y="3063240"/>
            <a:ext cx="3291840" cy="1234440"/>
          </a:xfrm>
          <a:prstGeom prst="roundRect">
            <a:avLst>
              <a:gd name="adj" fmla="val 5926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19" name="Image 4" descr="/home/claude/pharmaflow_ppt/icons/optimiz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14916" y="3227832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8334756" y="381304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12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(OR-Tools)</a:t>
            </a:r>
            <a:endParaRPr lang="en-US" sz="1200" dirty="0"/>
          </a:p>
        </p:txBody>
      </p:sp>
      <p:pic>
        <p:nvPicPr>
          <p:cNvPr id="21" name="Image 5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89320" y="4370832"/>
            <a:ext cx="219456" cy="219456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2889504" y="4645152"/>
            <a:ext cx="6400800" cy="548640"/>
          </a:xfrm>
          <a:prstGeom prst="roundRect">
            <a:avLst>
              <a:gd name="adj" fmla="val 13333"/>
            </a:avLst>
          </a:prstGeom>
          <a:solidFill>
            <a:srgbClr val="D7F2E4"/>
          </a:solidFill>
          <a:ln/>
        </p:spPr>
      </p:sp>
      <p:sp>
        <p:nvSpPr>
          <p:cNvPr id="23" name="Text 15"/>
          <p:cNvSpPr txBox="1"/>
          <p:nvPr/>
        </p:nvSpPr>
        <p:spPr>
          <a:xfrm>
            <a:off x="2889504" y="464515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Matching Engine  →  Transfer Recommendation</a:t>
            </a:r>
            <a:endParaRPr lang="en-US" sz="1300" dirty="0"/>
          </a:p>
        </p:txBody>
      </p:sp>
      <p:pic>
        <p:nvPicPr>
          <p:cNvPr id="24" name="Image 6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989320" y="5266944"/>
            <a:ext cx="219456" cy="219456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3803904" y="5541264"/>
            <a:ext cx="4572000" cy="548640"/>
          </a:xfrm>
          <a:prstGeom prst="roundRect">
            <a:avLst>
              <a:gd name="adj" fmla="val 13333"/>
            </a:avLst>
          </a:prstGeom>
          <a:solidFill>
            <a:srgbClr val="FF6F3C"/>
          </a:solidFill>
          <a:ln/>
        </p:spPr>
      </p:sp>
      <p:sp>
        <p:nvSpPr>
          <p:cNvPr id="26" name="Text 17"/>
          <p:cNvSpPr txBox="1"/>
          <p:nvPr/>
        </p:nvSpPr>
        <p:spPr>
          <a:xfrm>
            <a:off x="3803904" y="554126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API  —  Pickup &amp; Delivery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566928" y="626364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731520" y="626364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Design note: swap for a polished architecture diagram graphic in the final submission.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dashboard — from alert to action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POTENTIAL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4206240" cy="4297680"/>
          </a:xfrm>
          <a:prstGeom prst="roundRect">
            <a:avLst>
              <a:gd name="adj" fmla="val 2174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5448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HEALTH — PHARMACY A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3840480" y="2057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350008"/>
            <a:ext cx="347472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E6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350008"/>
            <a:ext cx="2501798" cy="164592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715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Overstock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840480" y="27157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3008376"/>
            <a:ext cx="347472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E6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008376"/>
            <a:ext cx="625450" cy="164592"/>
          </a:xfrm>
          <a:prstGeom prst="roundRect">
            <a:avLst>
              <a:gd name="adj" fmla="val 50000"/>
            </a:avLst>
          </a:prstGeom>
          <a:solidFill>
            <a:srgbClr val="F5A62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3374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Risk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840480" y="3374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666744"/>
            <a:ext cx="347472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CFE6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3666744"/>
            <a:ext cx="347472" cy="164592"/>
          </a:xfrm>
          <a:prstGeom prst="roundRect">
            <a:avLst>
              <a:gd name="adj" fmla="val 50000"/>
            </a:avLst>
          </a:prstGeom>
          <a:solidFill>
            <a:srgbClr val="E74C3C"/>
          </a:solidFill>
          <a:ln/>
        </p:spPr>
      </p:sp>
      <p:sp>
        <p:nvSpPr>
          <p:cNvPr id="20" name="Shape 18"/>
          <p:cNvSpPr/>
          <p:nvPr/>
        </p:nvSpPr>
        <p:spPr>
          <a:xfrm>
            <a:off x="822960" y="4078224"/>
            <a:ext cx="3657600" cy="0"/>
          </a:xfrm>
          <a:prstGeom prst="line">
            <a:avLst/>
          </a:prstGeom>
          <a:noFill/>
          <a:ln w="12700">
            <a:solidFill>
              <a:srgbClr val="CFE6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28853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 X — BATCH 4471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46085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100  ·  Demand 15/mo  ·  Expiry 3 months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0" y="1371600"/>
            <a:ext cx="6583680" cy="4297680"/>
          </a:xfrm>
          <a:prstGeom prst="roundRect">
            <a:avLst>
              <a:gd name="adj" fmla="val 2128"/>
            </a:avLst>
          </a:prstGeom>
          <a:solidFill>
            <a:srgbClr val="D7F2E4"/>
          </a:solidFill>
          <a:ln/>
        </p:spPr>
      </p:sp>
      <p:pic>
        <p:nvPicPr>
          <p:cNvPr id="24" name="Image 0" descr="/home/claude/pharmaflow_ppt/icons/b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1664208"/>
            <a:ext cx="365760" cy="365760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5852160" y="1664208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349240" y="21488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3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units of Medicine X may expire before expected consumption.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349240" y="260604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</a:t>
            </a:r>
            <a:r>
              <a:rPr lang="en-US" sz="13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B has predicted demand for 25 units within 5 days.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349240" y="32004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513832" y="327355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900" dirty="0"/>
          </a:p>
        </p:txBody>
      </p:sp>
      <p:sp>
        <p:nvSpPr>
          <p:cNvPr id="30" name="Text 27"/>
          <p:cNvSpPr txBox="1"/>
          <p:nvPr/>
        </p:nvSpPr>
        <p:spPr>
          <a:xfrm>
            <a:off x="5513832" y="347472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 km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8321040" y="320040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8485632" y="327355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DELIVERY</a:t>
            </a:r>
            <a:endParaRPr lang="en-US" sz="900" dirty="0"/>
          </a:p>
        </p:txBody>
      </p:sp>
      <p:sp>
        <p:nvSpPr>
          <p:cNvPr id="33" name="Text 30"/>
          <p:cNvSpPr txBox="1"/>
          <p:nvPr/>
        </p:nvSpPr>
        <p:spPr>
          <a:xfrm>
            <a:off x="8485632" y="347472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 min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5349240" y="397764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513832" y="405079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COST</a:t>
            </a:r>
            <a:endParaRPr lang="en-US" sz="900" dirty="0"/>
          </a:p>
        </p:txBody>
      </p:sp>
      <p:sp>
        <p:nvSpPr>
          <p:cNvPr id="36" name="Text 33"/>
          <p:cNvSpPr txBox="1"/>
          <p:nvPr/>
        </p:nvSpPr>
        <p:spPr>
          <a:xfrm>
            <a:off x="5513832" y="425196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₹120</a:t>
            </a:r>
            <a:endParaRPr lang="en-US" sz="1500" dirty="0"/>
          </a:p>
        </p:txBody>
      </p:sp>
      <p:sp>
        <p:nvSpPr>
          <p:cNvPr id="37" name="Shape 34"/>
          <p:cNvSpPr/>
          <p:nvPr/>
        </p:nvSpPr>
        <p:spPr>
          <a:xfrm>
            <a:off x="8321040" y="3977640"/>
            <a:ext cx="2743200" cy="621792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485632" y="4050792"/>
            <a:ext cx="2414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AVOIDED</a:t>
            </a:r>
            <a:endParaRPr lang="en-US" sz="900" dirty="0"/>
          </a:p>
        </p:txBody>
      </p:sp>
      <p:sp>
        <p:nvSpPr>
          <p:cNvPr id="39" name="Text 36"/>
          <p:cNvSpPr txBox="1"/>
          <p:nvPr/>
        </p:nvSpPr>
        <p:spPr>
          <a:xfrm>
            <a:off x="8485632" y="4251960"/>
            <a:ext cx="24140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₹1,450</a:t>
            </a:r>
            <a:endParaRPr lang="en-US" sz="1500" dirty="0"/>
          </a:p>
        </p:txBody>
      </p:sp>
      <p:sp>
        <p:nvSpPr>
          <p:cNvPr id="40" name="Shape 37"/>
          <p:cNvSpPr/>
          <p:nvPr/>
        </p:nvSpPr>
        <p:spPr>
          <a:xfrm>
            <a:off x="5349240" y="4892040"/>
            <a:ext cx="5943600" cy="594360"/>
          </a:xfrm>
          <a:prstGeom prst="roundRect">
            <a:avLst>
              <a:gd name="adj" fmla="val 49231"/>
            </a:avLst>
          </a:prstGeom>
          <a:solidFill>
            <a:srgbClr val="FF6F3C"/>
          </a:solidFill>
          <a:ln/>
        </p:spPr>
      </p:sp>
      <p:sp>
        <p:nvSpPr>
          <p:cNvPr id="41" name="Text 38"/>
          <p:cNvSpPr txBox="1"/>
          <p:nvPr/>
        </p:nvSpPr>
        <p:spPr>
          <a:xfrm>
            <a:off x="5349240" y="489204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Transfer 25 units to Pharmacy B  →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566928" y="5852160"/>
            <a:ext cx="11064240" cy="411480"/>
          </a:xfrm>
          <a:prstGeom prst="roundRect">
            <a:avLst>
              <a:gd name="adj" fmla="val 13333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1520" y="585216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Design note: strongly recommend replacing with real product screens / Figma mockups once the UI is built — this is the slide judges will remember.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FLOW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judges will see in 90 seconds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EXPLANATION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595628"/>
            <a:ext cx="512064" cy="512064"/>
          </a:xfrm>
          <a:prstGeom prst="ellipse">
            <a:avLst/>
          </a:prstGeom>
          <a:solidFill>
            <a:srgbClr val="D7F2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68096" y="15956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435608" y="15087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as Pharmacy A — dashboard flags 3 medicines at expiry risk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6281928" y="1417320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83096" y="1595628"/>
            <a:ext cx="512064" cy="512064"/>
          </a:xfrm>
          <a:prstGeom prst="ellipse">
            <a:avLst/>
          </a:prstGeom>
          <a:solidFill>
            <a:srgbClr val="D7F2E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83096" y="15956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7150608" y="150876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Medicine X — AI shows 42 units of forecasted excess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566928" y="2450592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2628900"/>
            <a:ext cx="512064" cy="512064"/>
          </a:xfrm>
          <a:prstGeom prst="ellipse">
            <a:avLst/>
          </a:prstGeom>
          <a:solidFill>
            <a:srgbClr val="D7F2E4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68096" y="26289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435608" y="254203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scans the network for the best-fit receiving pharmacy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281928" y="2450592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83096" y="2628900"/>
            <a:ext cx="512064" cy="512064"/>
          </a:xfrm>
          <a:prstGeom prst="ellipse">
            <a:avLst/>
          </a:prstGeom>
          <a:solidFill>
            <a:srgbClr val="D7F2E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3096" y="26289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7150608" y="254203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B found — 3.4 km away, stockout predicted in 5 days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566928" y="3483864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8096" y="3662172"/>
            <a:ext cx="512064" cy="512064"/>
          </a:xfrm>
          <a:prstGeom prst="ellipse">
            <a:avLst/>
          </a:prstGeom>
          <a:solidFill>
            <a:srgbClr val="D7F2E4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68096" y="36621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5" name="Text 23"/>
          <p:cNvSpPr txBox="1"/>
          <p:nvPr/>
        </p:nvSpPr>
        <p:spPr>
          <a:xfrm>
            <a:off x="1435608" y="357530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economics shown: ₹110 cost vs. ₹1,200 loss avoided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6281928" y="3483864"/>
            <a:ext cx="5394960" cy="868680"/>
          </a:xfrm>
          <a:prstGeom prst="roundRect">
            <a:avLst>
              <a:gd name="adj" fmla="val 842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3096" y="3662172"/>
            <a:ext cx="512064" cy="512064"/>
          </a:xfrm>
          <a:prstGeom prst="ellipse">
            <a:avLst/>
          </a:prstGeom>
          <a:solidFill>
            <a:srgbClr val="FF6F3C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483096" y="36621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9" name="Text 27"/>
          <p:cNvSpPr txBox="1"/>
          <p:nvPr/>
        </p:nvSpPr>
        <p:spPr>
          <a:xfrm>
            <a:off x="7150608" y="357530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18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click: “Initiate Transfer” — both inventories update live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566928" y="4489704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D7F2E4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66928" y="44897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 on screen:  ₹1,200 potential wastage avoided — in one transfer.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33" name="Text 31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Buildable with a proven, hackathon-realistic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7" name="Image 0" descr="/home/claude/pharmaflow_ppt/icons/front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645920"/>
            <a:ext cx="502920" cy="5029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35608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1450" dirty="0"/>
          </a:p>
        </p:txBody>
      </p:sp>
      <p:sp>
        <p:nvSpPr>
          <p:cNvPr id="9" name="Text 6"/>
          <p:cNvSpPr txBox="1"/>
          <p:nvPr/>
        </p:nvSpPr>
        <p:spPr>
          <a:xfrm>
            <a:off x="1435608" y="1984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79976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11" name="Image 1" descr="/home/claude/pharmaflow_ppt/icons/back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8576" y="164592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248656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1450" dirty="0"/>
          </a:p>
        </p:txBody>
      </p:sp>
      <p:sp>
        <p:nvSpPr>
          <p:cNvPr id="13" name="Text 9"/>
          <p:cNvSpPr txBox="1"/>
          <p:nvPr/>
        </p:nvSpPr>
        <p:spPr>
          <a:xfrm>
            <a:off x="5248656" y="1984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93024" y="141732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15" name="Image 2" descr="/home/claude/pharmaflow_ppt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1624" y="1645920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9061704" y="160020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</a:t>
            </a:r>
            <a:endParaRPr lang="en-US" sz="1450" dirty="0"/>
          </a:p>
        </p:txBody>
      </p:sp>
      <p:sp>
        <p:nvSpPr>
          <p:cNvPr id="17" name="Text 12"/>
          <p:cNvSpPr txBox="1"/>
          <p:nvPr/>
        </p:nvSpPr>
        <p:spPr>
          <a:xfrm>
            <a:off x="9061704" y="1984248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66928" y="30906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19" name="Image 3" descr="/home/claude/pharmaflow_ppt/icons/m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528" y="3319272"/>
            <a:ext cx="502920" cy="5029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35608" y="32735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ML Layer</a:t>
            </a:r>
            <a:endParaRPr lang="en-US" sz="1450" dirty="0"/>
          </a:p>
        </p:txBody>
      </p:sp>
      <p:sp>
        <p:nvSpPr>
          <p:cNvPr id="21" name="Text 15"/>
          <p:cNvSpPr txBox="1"/>
          <p:nvPr/>
        </p:nvSpPr>
        <p:spPr>
          <a:xfrm>
            <a:off x="1435608" y="3657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Scikit-learn · XGBoost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4379976" y="30906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23" name="Image 4" descr="/home/claude/pharmaflow_ppt/icons/optimiz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8576" y="3319272"/>
            <a:ext cx="502920" cy="50292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248656" y="32735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450" dirty="0"/>
          </a:p>
        </p:txBody>
      </p:sp>
      <p:sp>
        <p:nvSpPr>
          <p:cNvPr id="25" name="Text 18"/>
          <p:cNvSpPr txBox="1"/>
          <p:nvPr/>
        </p:nvSpPr>
        <p:spPr>
          <a:xfrm>
            <a:off x="5248656" y="3657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OR-Tools / PuLP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8193024" y="309067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27" name="Image 5" descr="/home/claude/pharmaflow_ppt/icons/map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21624" y="3319272"/>
            <a:ext cx="502920" cy="50292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9061704" y="3273552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Maps &amp; Distance</a:t>
            </a:r>
            <a:endParaRPr lang="en-US" sz="1450" dirty="0"/>
          </a:p>
        </p:txBody>
      </p:sp>
      <p:sp>
        <p:nvSpPr>
          <p:cNvPr id="29" name="Text 21"/>
          <p:cNvSpPr txBox="1"/>
          <p:nvPr/>
        </p:nvSpPr>
        <p:spPr>
          <a:xfrm>
            <a:off x="9061704" y="36576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 / Mapbox</a:t>
            </a:r>
            <a:endParaRPr lang="en-US" sz="1150" dirty="0"/>
          </a:p>
        </p:txBody>
      </p:sp>
      <p:sp>
        <p:nvSpPr>
          <p:cNvPr id="30" name="Text 22"/>
          <p:cNvSpPr txBox="1"/>
          <p:nvPr/>
        </p:nvSpPr>
        <p:spPr>
          <a:xfrm>
            <a:off x="566928" y="4736592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 (MVP: simulated / synthetic pharmacy data)</a:t>
            </a:r>
            <a:endParaRPr lang="en-US" sz="1150" dirty="0"/>
          </a:p>
        </p:txBody>
      </p:sp>
      <p:sp>
        <p:nvSpPr>
          <p:cNvPr id="31" name="Text 23"/>
          <p:cNvSpPr txBox="1"/>
          <p:nvPr/>
        </p:nvSpPr>
        <p:spPr>
          <a:xfrm>
            <a:off x="566928" y="50840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Medicine-level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566928" y="535838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· batch · quantity · price · expiry · storage · supplier</a:t>
            </a:r>
            <a:endParaRPr lang="en-US" sz="1080" dirty="0"/>
          </a:p>
        </p:txBody>
      </p:sp>
      <p:sp>
        <p:nvSpPr>
          <p:cNvPr id="33" name="Text 25"/>
          <p:cNvSpPr txBox="1"/>
          <p:nvPr/>
        </p:nvSpPr>
        <p:spPr>
          <a:xfrm>
            <a:off x="4315968" y="50840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</a:t>
            </a:r>
            <a:endParaRPr lang="en-US" sz="1200" dirty="0"/>
          </a:p>
        </p:txBody>
      </p:sp>
      <p:sp>
        <p:nvSpPr>
          <p:cNvPr id="34" name="Text 26"/>
          <p:cNvSpPr txBox="1"/>
          <p:nvPr/>
        </p:nvSpPr>
        <p:spPr>
          <a:xfrm>
            <a:off x="4315968" y="535838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daily/weekly sales · seasonality · prior stockouts · wastage</a:t>
            </a:r>
            <a:endParaRPr lang="en-US" sz="1080" dirty="0"/>
          </a:p>
        </p:txBody>
      </p:sp>
      <p:sp>
        <p:nvSpPr>
          <p:cNvPr id="35" name="Text 27"/>
          <p:cNvSpPr txBox="1"/>
          <p:nvPr/>
        </p:nvSpPr>
        <p:spPr>
          <a:xfrm>
            <a:off x="8065008" y="508406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 profile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8065008" y="535838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8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· storage capacity · hours · delivery availability</a:t>
            </a:r>
            <a:endParaRPr lang="en-US" sz="1080" dirty="0"/>
          </a:p>
        </p:txBody>
      </p:sp>
      <p:sp>
        <p:nvSpPr>
          <p:cNvPr id="37" name="Text 29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38" name="Text 30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Freemium SaaS + transaction-based network revenue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POTENTIAL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D7F2E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2011680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F6F3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49808" y="2011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527048" y="24688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4F4A"/>
            </a:solidFill>
            <a:prstDash val="solid"/>
          </a:ln>
        </p:spPr>
      </p:sp>
      <p:pic>
        <p:nvPicPr>
          <p:cNvPr id="10" name="Image 0" descr="/home/claude/pharmaflow_ppt/icons/biz-sa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2551176"/>
            <a:ext cx="521208" cy="52120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94944" y="333756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SaaS Subscription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379476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inventory monitoring; paid tier unlocks AI forecasting &amp; alerts.</a:t>
            </a:r>
            <a:endParaRPr lang="en-US" sz="1030" dirty="0"/>
          </a:p>
        </p:txBody>
      </p:sp>
      <p:sp>
        <p:nvSpPr>
          <p:cNvPr id="13" name="Shape 10"/>
          <p:cNvSpPr/>
          <p:nvPr/>
        </p:nvSpPr>
        <p:spPr>
          <a:xfrm>
            <a:off x="3392424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D7F2E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75304" y="2011680"/>
            <a:ext cx="2240280" cy="292608"/>
          </a:xfrm>
          <a:prstGeom prst="roundRect">
            <a:avLst>
              <a:gd name="adj" fmla="val 50000"/>
            </a:avLst>
          </a:prstGeom>
          <a:solidFill>
            <a:srgbClr val="FF6F3C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575304" y="201168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MODEL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352544" y="246888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4F4A"/>
            </a:solidFill>
            <a:prstDash val="solid"/>
          </a:ln>
        </p:spPr>
      </p:sp>
      <p:pic>
        <p:nvPicPr>
          <p:cNvPr id="17" name="Image 1" descr="/home/claude/pharmaflow_ppt/icons/biz-transac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551176"/>
            <a:ext cx="521208" cy="52120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3520440" y="333756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Fee</a:t>
            </a:r>
            <a:endParaRPr lang="en-US" sz="1350" dirty="0"/>
          </a:p>
        </p:txBody>
      </p:sp>
      <p:sp>
        <p:nvSpPr>
          <p:cNvPr id="19" name="Text 15"/>
          <p:cNvSpPr txBox="1"/>
          <p:nvPr/>
        </p:nvSpPr>
        <p:spPr>
          <a:xfrm>
            <a:off x="3557016" y="3794760"/>
            <a:ext cx="227685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fee per successful inventory transfer between pharmacies.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6217920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178040" y="214884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4F4A"/>
            </a:solidFill>
            <a:prstDash val="solid"/>
          </a:ln>
        </p:spPr>
      </p:sp>
      <p:pic>
        <p:nvPicPr>
          <p:cNvPr id="22" name="Image 2" descr="/home/claude/pharmaflow_ppt/icons/biz-enterpri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0336" y="2231136"/>
            <a:ext cx="521208" cy="521208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6345936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</a:t>
            </a:r>
            <a:endParaRPr lang="en-US" sz="1350" dirty="0"/>
          </a:p>
        </p:txBody>
      </p:sp>
      <p:sp>
        <p:nvSpPr>
          <p:cNvPr id="24" name="Text 19"/>
          <p:cNvSpPr txBox="1"/>
          <p:nvPr/>
        </p:nvSpPr>
        <p:spPr>
          <a:xfrm>
            <a:off x="6382512" y="347472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pay for centralized analytics, branch optimization &amp; reporting.</a:t>
            </a:r>
            <a:endParaRPr lang="en-US" sz="1030" dirty="0"/>
          </a:p>
        </p:txBody>
      </p:sp>
      <p:sp>
        <p:nvSpPr>
          <p:cNvPr id="25" name="Shape 20"/>
          <p:cNvSpPr/>
          <p:nvPr/>
        </p:nvSpPr>
        <p:spPr>
          <a:xfrm>
            <a:off x="9043416" y="1828800"/>
            <a:ext cx="2606040" cy="3291840"/>
          </a:xfrm>
          <a:prstGeom prst="roundRect">
            <a:avLst>
              <a:gd name="adj" fmla="val 3509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10003536" y="2148840"/>
            <a:ext cx="685800" cy="685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4F4A"/>
            </a:solidFill>
            <a:prstDash val="solid"/>
          </a:ln>
        </p:spPr>
      </p:sp>
      <p:pic>
        <p:nvPicPr>
          <p:cNvPr id="27" name="Image 3" descr="/home/claude/pharmaflow_ppt/icons/biz-logisti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85832" y="2231136"/>
            <a:ext cx="521208" cy="521208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9171432" y="30175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Commission</a:t>
            </a:r>
            <a:endParaRPr lang="en-US" sz="1350" dirty="0"/>
          </a:p>
        </p:txBody>
      </p:sp>
      <p:sp>
        <p:nvSpPr>
          <p:cNvPr id="29" name="Text 23"/>
          <p:cNvSpPr txBox="1"/>
          <p:nvPr/>
        </p:nvSpPr>
        <p:spPr>
          <a:xfrm>
            <a:off x="9208008" y="3474720"/>
            <a:ext cx="22768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commission from delivery / logistics partners on each transfer.</a:t>
            </a:r>
            <a:endParaRPr lang="en-US" sz="1030" dirty="0"/>
          </a:p>
        </p:txBody>
      </p:sp>
      <p:sp>
        <p:nvSpPr>
          <p:cNvPr id="30" name="Text 24"/>
          <p:cNvSpPr txBox="1"/>
          <p:nvPr/>
        </p:nvSpPr>
        <p:spPr>
          <a:xfrm>
            <a:off x="566928" y="537667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Go-to-market: start free to build network density → monetize forecasting, matching &amp; analytics once value is proven.</a:t>
            </a:r>
            <a:endParaRPr lang="en-US" sz="115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32" name="Text 26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IMPACT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score, six KPIs behind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325880"/>
            <a:ext cx="3291840" cy="4434840"/>
          </a:xfrm>
          <a:prstGeom prst="roundRect">
            <a:avLst>
              <a:gd name="adj" fmla="val 2778"/>
            </a:avLst>
          </a:prstGeom>
          <a:solidFill>
            <a:srgbClr val="D7F2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459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kern="0" spc="50" dirty="0">
                <a:solidFill>
                  <a:srgbClr val="2E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INVENTORY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b="1" kern="0" spc="50" dirty="0">
                <a:solidFill>
                  <a:srgbClr val="2E7C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SCORE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31720"/>
            <a:ext cx="2743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2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86%</a:t>
            </a:r>
            <a:endParaRPr lang="en-US" sz="6200" dirty="0"/>
          </a:p>
        </p:txBody>
      </p:sp>
      <p:sp>
        <p:nvSpPr>
          <p:cNvPr id="9" name="Shape 7"/>
          <p:cNvSpPr/>
          <p:nvPr/>
        </p:nvSpPr>
        <p:spPr>
          <a:xfrm>
            <a:off x="822960" y="3520440"/>
            <a:ext cx="1508760" cy="365760"/>
          </a:xfrm>
          <a:prstGeom prst="roundRect">
            <a:avLst>
              <a:gd name="adj" fmla="val 50000"/>
            </a:avLst>
          </a:prstGeom>
          <a:solidFill>
            <a:srgbClr val="2ECC7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52044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+8% this month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11480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Blended from expiry risk, stockout risk, excess inventory, transfer efficiency &amp; utilization.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132588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13" name="Image 0" descr="/home/claude/pharmaflow_ppt/icons/kpi-mon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0876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892040" y="14721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Expiry Loss Avoided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4892040" y="183794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 value of stock rescued before expiry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8019288" y="1325880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17" name="Image 1" descr="/home/claude/pharmaflow_ppt/icons/kpi-stockou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168" y="15087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8796528" y="1472184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Stockout Reduction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8796528" y="183794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reduction in predicted stockouts</a:t>
            </a:r>
            <a:endParaRPr lang="en-US" sz="1030" dirty="0"/>
          </a:p>
        </p:txBody>
      </p:sp>
      <p:sp>
        <p:nvSpPr>
          <p:cNvPr id="20" name="Shape 16"/>
          <p:cNvSpPr/>
          <p:nvPr/>
        </p:nvSpPr>
        <p:spPr>
          <a:xfrm>
            <a:off x="4114800" y="2898648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21" name="Image 2" descr="/home/claude/pharmaflow_ppt/icons/kpi-utiliz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308152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92040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Utilization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4892040" y="34107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sold or redistributed before expiry</a:t>
            </a:r>
            <a:endParaRPr lang="en-US" sz="1030" dirty="0"/>
          </a:p>
        </p:txBody>
      </p:sp>
      <p:sp>
        <p:nvSpPr>
          <p:cNvPr id="24" name="Shape 19"/>
          <p:cNvSpPr/>
          <p:nvPr/>
        </p:nvSpPr>
        <p:spPr>
          <a:xfrm>
            <a:off x="8019288" y="2898648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25" name="Image 3" descr="/home/claude/pharmaflow_ppt/icons/kpi-transf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2168" y="3081528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8796528" y="304495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Efficiency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8796528" y="341071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transport cost per successful transfer</a:t>
            </a:r>
            <a:endParaRPr lang="en-US" sz="1030" dirty="0"/>
          </a:p>
        </p:txBody>
      </p:sp>
      <p:sp>
        <p:nvSpPr>
          <p:cNvPr id="28" name="Shape 22"/>
          <p:cNvSpPr/>
          <p:nvPr/>
        </p:nvSpPr>
        <p:spPr>
          <a:xfrm>
            <a:off x="4114800" y="4471416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29" name="Image 4" descr="/home/claude/pharmaflow_ppt/icons/kpi-day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4654296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4892040" y="46177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Days of Inventory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4892040" y="4983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stock carried, network-wide</a:t>
            </a:r>
            <a:endParaRPr lang="en-US" sz="1030" dirty="0"/>
          </a:p>
        </p:txBody>
      </p:sp>
      <p:sp>
        <p:nvSpPr>
          <p:cNvPr id="32" name="Shape 25"/>
          <p:cNvSpPr/>
          <p:nvPr/>
        </p:nvSpPr>
        <p:spPr>
          <a:xfrm>
            <a:off x="8019288" y="4471416"/>
            <a:ext cx="3703320" cy="1371600"/>
          </a:xfrm>
          <a:prstGeom prst="roundRect">
            <a:avLst>
              <a:gd name="adj" fmla="val 5333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pic>
        <p:nvPicPr>
          <p:cNvPr id="33" name="Image 5" descr="/home/claude/pharmaflow_ppt/icons/kpi-netwo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2168" y="4654296"/>
            <a:ext cx="457200" cy="4572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8796528" y="46177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Availability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8796528" y="498348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3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medicines available across pharmacies</a:t>
            </a:r>
            <a:endParaRPr lang="en-US" sz="1030" dirty="0"/>
          </a:p>
        </p:txBody>
      </p:sp>
      <p:sp>
        <p:nvSpPr>
          <p:cNvPr id="36" name="Text 28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37" name="Text 2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new pharmacy makes the network smarter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D7F2E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1737360"/>
            <a:ext cx="1545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Pharmacies</a:t>
            </a:r>
            <a:endParaRPr lang="en-US" sz="1200" dirty="0"/>
          </a:p>
        </p:txBody>
      </p:sp>
      <p:pic>
        <p:nvPicPr>
          <p:cNvPr id="8" name="Image 0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2107692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441448" y="17373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D7F2E4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2514600" y="1737360"/>
            <a:ext cx="1545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Pharmacies</a:t>
            </a:r>
            <a:endParaRPr lang="en-US" sz="1200" dirty="0"/>
          </a:p>
        </p:txBody>
      </p:sp>
      <p:pic>
        <p:nvPicPr>
          <p:cNvPr id="11" name="Image 1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2107692"/>
            <a:ext cx="219456" cy="21945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315968" y="17373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D7F2E4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4389120" y="1737360"/>
            <a:ext cx="1545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 Pharmacies</a:t>
            </a:r>
            <a:endParaRPr lang="en-US" sz="1200" dirty="0"/>
          </a:p>
        </p:txBody>
      </p:sp>
      <p:pic>
        <p:nvPicPr>
          <p:cNvPr id="14" name="Image 2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107692"/>
            <a:ext cx="219456" cy="219456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6190488" y="17373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D7F2E4"/>
          </a:solidFill>
          <a:ln/>
        </p:spPr>
      </p:sp>
      <p:sp>
        <p:nvSpPr>
          <p:cNvPr id="16" name="Text 11"/>
          <p:cNvSpPr txBox="1"/>
          <p:nvPr/>
        </p:nvSpPr>
        <p:spPr>
          <a:xfrm>
            <a:off x="6263640" y="1737360"/>
            <a:ext cx="1545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City Network</a:t>
            </a:r>
            <a:endParaRPr lang="en-US" sz="1200" dirty="0"/>
          </a:p>
        </p:txBody>
      </p:sp>
      <p:pic>
        <p:nvPicPr>
          <p:cNvPr id="17" name="Image 3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107692"/>
            <a:ext cx="219456" cy="2194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065008" y="17373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D7F2E4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8138160" y="1737360"/>
            <a:ext cx="1545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 Network</a:t>
            </a:r>
            <a:endParaRPr lang="en-US" sz="1200" dirty="0"/>
          </a:p>
        </p:txBody>
      </p:sp>
      <p:pic>
        <p:nvPicPr>
          <p:cNvPr id="20" name="Image 4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84080" y="2107692"/>
            <a:ext cx="219456" cy="219456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9939528" y="1737360"/>
            <a:ext cx="1691640" cy="960120"/>
          </a:xfrm>
          <a:prstGeom prst="roundRect">
            <a:avLst>
              <a:gd name="adj" fmla="val 7619"/>
            </a:avLst>
          </a:prstGeom>
          <a:solidFill>
            <a:srgbClr val="FF6F3C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10012680" y="1737360"/>
            <a:ext cx="15453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Network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566928" y="306324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4" name="Text 17"/>
          <p:cNvSpPr txBox="1"/>
          <p:nvPr/>
        </p:nvSpPr>
        <p:spPr>
          <a:xfrm>
            <a:off x="566928" y="306324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pharmacies  →  more inventory visibility  →  better matching  →  better optimization</a:t>
            </a:r>
            <a:endParaRPr lang="en-US" sz="1550" dirty="0"/>
          </a:p>
        </p:txBody>
      </p:sp>
      <p:sp>
        <p:nvSpPr>
          <p:cNvPr id="25" name="Shape 18"/>
          <p:cNvSpPr/>
          <p:nvPr/>
        </p:nvSpPr>
        <p:spPr>
          <a:xfrm>
            <a:off x="566928" y="42519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6" name="Text 19"/>
          <p:cNvSpPr txBox="1"/>
          <p:nvPr/>
        </p:nvSpPr>
        <p:spPr>
          <a:xfrm>
            <a:off x="749808" y="4434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 pharmacies</a:t>
            </a:r>
            <a:endParaRPr lang="en-US" sz="1350" dirty="0"/>
          </a:p>
        </p:txBody>
      </p:sp>
      <p:sp>
        <p:nvSpPr>
          <p:cNvPr id="27" name="Text 20"/>
          <p:cNvSpPr txBox="1"/>
          <p:nvPr/>
        </p:nvSpPr>
        <p:spPr>
          <a:xfrm>
            <a:off x="749808" y="491032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users today — inventory visibility, alerts, forecasting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4315968" y="42519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29" name="Text 22"/>
          <p:cNvSpPr txBox="1"/>
          <p:nvPr/>
        </p:nvSpPr>
        <p:spPr>
          <a:xfrm>
            <a:off x="4498848" y="4434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Pharmacy chains</a:t>
            </a:r>
            <a:endParaRPr lang="en-US" sz="1350" dirty="0"/>
          </a:p>
        </p:txBody>
      </p:sp>
      <p:sp>
        <p:nvSpPr>
          <p:cNvPr id="30" name="Text 23"/>
          <p:cNvSpPr txBox="1"/>
          <p:nvPr/>
        </p:nvSpPr>
        <p:spPr>
          <a:xfrm>
            <a:off x="4498848" y="491032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Cross-branch optimization at enterprise scale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8065008" y="4251960"/>
            <a:ext cx="361188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8247888" y="443484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Wholesalers, hospitals &amp; clinics</a:t>
            </a:r>
            <a:endParaRPr lang="en-US" sz="1350" dirty="0"/>
          </a:p>
        </p:txBody>
      </p:sp>
      <p:sp>
        <p:nvSpPr>
          <p:cNvPr id="33" name="Text 26"/>
          <p:cNvSpPr txBox="1"/>
          <p:nvPr/>
        </p:nvSpPr>
        <p:spPr>
          <a:xfrm>
            <a:off x="8247888" y="4910328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network participants as density grows</a:t>
            </a:r>
            <a:endParaRPr lang="en-US" sz="11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35" name="Text 28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RESPONSIBILITY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We've thought about what can go wrong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EXPLANATION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7406640" cy="374904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4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4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B4F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7F2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restrictions on drug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Licensed-entity-only workflow; recommendation, not automatic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Incorrect demand forecasts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 intervals + human approval before any transfer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Cold-chain / storage-sensitive medicines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Storage-condition constraints built into matching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or missing pharmacy data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MVP uses synthetic data; roadmap adds barcode / POS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9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4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pharmacy adoption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730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dashboard + immediately measurable ₹ savings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FE6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83880" y="1371600"/>
            <a:ext cx="3429000" cy="3749040"/>
          </a:xfrm>
          <a:prstGeom prst="roundRect">
            <a:avLst>
              <a:gd name="adj" fmla="val 2667"/>
            </a:avLst>
          </a:prstGeom>
          <a:solidFill>
            <a:srgbClr val="D7F2E4"/>
          </a:solidFill>
          <a:ln/>
        </p:spPr>
      </p:sp>
      <p:pic>
        <p:nvPicPr>
          <p:cNvPr id="8" name="Image 0" descr="/home/claude/pharmaflow_ppt/icons/regula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572768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9006840" y="15727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STANCE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8458200" y="2148840"/>
            <a:ext cx="2880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is an inventory intelligence &amp; redistribution recommendation system. Any real transfer runs only between licensed entities, following applicable drug, record-keeping and distribution rules.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458200" y="3931920"/>
            <a:ext cx="2880360" cy="0"/>
          </a:xfrm>
          <a:prstGeom prst="line">
            <a:avLst/>
          </a:prstGeom>
          <a:noFill/>
          <a:ln w="12700">
            <a:solidFill>
              <a:srgbClr val="CFE6E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458200" y="4069080"/>
            <a:ext cx="2880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30" i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demo runs on a simulated pharmacy network with synthetic inventory data — by design.</a:t>
            </a:r>
            <a:endParaRPr lang="en-US" sz="103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1280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WE'RE DIFFERENT</a:t>
            </a:r>
            <a:endParaRPr lang="en-US" sz="11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inventory management to inventory intelligence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439912" y="384048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EEF9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439912" y="384048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0B4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&amp; CREATIVITY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17320"/>
            <a:ext cx="5349240" cy="3566160"/>
          </a:xfrm>
          <a:prstGeom prst="roundRect">
            <a:avLst>
              <a:gd name="adj" fmla="val 2564"/>
            </a:avLst>
          </a:prstGeom>
          <a:solidFill>
            <a:srgbClr val="EEF9F4"/>
          </a:solidFill>
          <a:ln w="12700">
            <a:solidFill>
              <a:srgbClr val="CFE6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691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A8A8A"/>
            </a:solidFill>
            <a:prstDash val="solid"/>
          </a:ln>
        </p:spPr>
      </p:sp>
      <p:pic>
        <p:nvPicPr>
          <p:cNvPr id="8" name="Image 0" descr="/home/claude/pharmaflow_ppt/icons/traditio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058" y="1768450"/>
            <a:ext cx="486461" cy="48646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00200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730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pharmacy software</a:t>
            </a:r>
            <a:endParaRPr lang="en-US" sz="1550" dirty="0"/>
          </a:p>
        </p:txBody>
      </p:sp>
      <p:sp>
        <p:nvSpPr>
          <p:cNvPr id="10" name="Text 7"/>
          <p:cNvSpPr txBox="1"/>
          <p:nvPr/>
        </p:nvSpPr>
        <p:spPr>
          <a:xfrm>
            <a:off x="841248" y="246888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Pharmacy-centric — answers “what does my pharmacy have?”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41248" y="3200400"/>
            <a:ext cx="4800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5C726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  →  Alert  →  Reorder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3794760"/>
            <a:ext cx="4800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only its own four walls — no visibility into what the network as a whole holds or needs.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36208" y="1417320"/>
            <a:ext cx="5394960" cy="3566160"/>
          </a:xfrm>
          <a:prstGeom prst="roundRect">
            <a:avLst>
              <a:gd name="adj" fmla="val 2564"/>
            </a:avLst>
          </a:prstGeom>
          <a:solidFill>
            <a:srgbClr val="D7F2E4"/>
          </a:solidFill>
          <a:ln/>
        </p:spPr>
      </p:sp>
      <p:sp>
        <p:nvSpPr>
          <p:cNvPr id="14" name="Shape 11"/>
          <p:cNvSpPr/>
          <p:nvPr/>
        </p:nvSpPr>
        <p:spPr>
          <a:xfrm>
            <a:off x="6510528" y="169164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4F4A"/>
            </a:solidFill>
            <a:prstDash val="solid"/>
          </a:ln>
        </p:spPr>
      </p:sp>
      <p:pic>
        <p:nvPicPr>
          <p:cNvPr id="15" name="Image 1" descr="/home/claude/pharmaflow_ppt/icons/ai-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7338" y="1768450"/>
            <a:ext cx="486461" cy="486461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269480" y="173736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PharmaFlow AI</a:t>
            </a:r>
            <a:endParaRPr lang="en-US" sz="1550" dirty="0"/>
          </a:p>
        </p:txBody>
      </p:sp>
      <p:sp>
        <p:nvSpPr>
          <p:cNvPr id="17" name="Text 13"/>
          <p:cNvSpPr txBox="1"/>
          <p:nvPr/>
        </p:nvSpPr>
        <p:spPr>
          <a:xfrm>
            <a:off x="6510528" y="24688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730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Network-centric — answers “what does the network have, need, and risk losing?”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6510528" y="3200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 → Compare → Optimize → Redistribute → Track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6510528" y="3794760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total network cost — not just one pharmacy's shelf.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66928" y="525780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F6F3C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566928" y="5257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Inventory Management  →  Inventory Intelligence</a:t>
            </a:r>
            <a:endParaRPr lang="en-US" sz="21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</a:t>
            </a:r>
            <a:endParaRPr lang="en-US" sz="950" dirty="0"/>
          </a:p>
        </p:txBody>
      </p:sp>
      <p:sp>
        <p:nvSpPr>
          <p:cNvPr id="23" name="Text 19"/>
          <p:cNvSpPr txBox="1"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468880" y="3840480"/>
            <a:ext cx="6217920" cy="6217920"/>
          </a:xfrm>
          <a:prstGeom prst="ellipse">
            <a:avLst/>
          </a:prstGeom>
          <a:solidFill>
            <a:srgbClr val="F1FAF5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-2377440"/>
            <a:ext cx="5212080" cy="5212080"/>
          </a:xfrm>
          <a:prstGeom prst="ellipse">
            <a:avLst/>
          </a:prstGeom>
          <a:solidFill>
            <a:srgbClr val="E4F5E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9144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FF6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IMPACT  ·  THE VISION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371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Don't manufacture more to solve scarcity.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2E7C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First, intelligently redistribute what already exists.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731520" y="338328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D7F2E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31520" y="3383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</a:t>
            </a:r>
            <a:endParaRPr lang="en-US" sz="1700" dirty="0"/>
          </a:p>
        </p:txBody>
      </p:sp>
      <p:pic>
        <p:nvPicPr>
          <p:cNvPr id="9" name="Image 0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8805" y="3602736"/>
            <a:ext cx="256032" cy="25603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3456432" y="338328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D7F2E4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3456432" y="3383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1700" dirty="0"/>
          </a:p>
        </p:txBody>
      </p:sp>
      <p:pic>
        <p:nvPicPr>
          <p:cNvPr id="12" name="Image 1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3717" y="3602736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181344" y="338328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D7F2E4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6181344" y="3383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Optimize</a:t>
            </a:r>
            <a:endParaRPr lang="en-US" sz="1700" dirty="0"/>
          </a:p>
        </p:txBody>
      </p:sp>
      <p:pic>
        <p:nvPicPr>
          <p:cNvPr id="15" name="Image 2" descr="/home/claude/pharmaflow_ppt/icons/arrow-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629" y="3602736"/>
            <a:ext cx="256032" cy="256032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8906256" y="3383280"/>
            <a:ext cx="2468880" cy="685800"/>
          </a:xfrm>
          <a:prstGeom prst="roundRect">
            <a:avLst>
              <a:gd name="adj" fmla="val 13333"/>
            </a:avLst>
          </a:prstGeom>
          <a:solidFill>
            <a:srgbClr val="D7F2E4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8906256" y="338328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B4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731520" y="4617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PharmaFlow AI  ·  Turning pharmacy surplus into timely availability.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731520" y="5943600"/>
            <a:ext cx="10698480" cy="0"/>
          </a:xfrm>
          <a:prstGeom prst="line">
            <a:avLst/>
          </a:prstGeom>
          <a:noFill/>
          <a:ln w="12700">
            <a:solidFill>
              <a:srgbClr val="CFE6E1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73152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Questions welcome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6309360" y="60807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dirty="0">
                <a:solidFill>
                  <a:srgbClr val="5C72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NANT  ·  contact@email.com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1723</Words>
  <Application>Microsoft Office PowerPoint</Application>
  <PresentationFormat>Widescreen</PresentationFormat>
  <Paragraphs>342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THIRU MURUGESH J D</cp:lastModifiedBy>
  <cp:revision>2</cp:revision>
  <dcterms:created xsi:type="dcterms:W3CDTF">2026-09-05T17:47:08Z</dcterms:created>
  <dcterms:modified xsi:type="dcterms:W3CDTF">2026-09-05T18:27:26Z</dcterms:modified>
</cp:coreProperties>
</file>